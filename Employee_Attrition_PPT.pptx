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Attrition by Department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Count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C0D-40D1-B3CB-DAB0118FB5EA}"/>
              </c:ext>
            </c:extLst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C0D-40D1-B3CB-DAB0118FB5EA}"/>
              </c:ext>
            </c:extLst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C0D-40D1-B3CB-DAB0118FB5E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R&amp;D</c:v>
                </c:pt>
                <c:pt idx="1">
                  <c:v>Sales</c:v>
                </c:pt>
                <c:pt idx="2">
                  <c:v>HR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133</c:v>
                </c:pt>
                <c:pt idx="1">
                  <c:v>92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C0D-40D1-B3CB-DAB0118FB5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Attrition by Years at Company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 Left</c:v>
                </c:pt>
              </c:strCache>
            </c:strRef>
          </c:tx>
          <c:spPr>
            <a:ln w="38100" cap="flat">
              <a:solidFill>
                <a:srgbClr val="E639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&lt;1yr</c:v>
                </c:pt>
                <c:pt idx="1">
                  <c:v>1-2yr</c:v>
                </c:pt>
                <c:pt idx="2">
                  <c:v>2-5yr</c:v>
                </c:pt>
                <c:pt idx="3">
                  <c:v>5-10yr</c:v>
                </c:pt>
                <c:pt idx="4">
                  <c:v>10+yr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72</c:v>
                </c:pt>
                <c:pt idx="2">
                  <c:v>55</c:v>
                </c:pt>
                <c:pt idx="3">
                  <c:v>30</c:v>
                </c:pt>
                <c:pt idx="4">
                  <c:v>20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ED5-4C81-8412-46A3D07D11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Attrition by Gender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by 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827-4B46-9D67-2AD415476738}"/>
              </c:ext>
            </c:extLst>
          </c:dPt>
          <c:dPt>
            <c:idx val="1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827-4B46-9D67-2AD41547673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827-4B46-9D67-2AD41547673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827-4B46-9D67-2AD41547673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 (150)</c:v>
                </c:pt>
                <c:pt idx="1">
                  <c:v>Female (87)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150</c:v>
                </c:pt>
                <c:pt idx="1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827-4B46-9D67-2AD4154767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2233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Attrition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 Left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1CB-4DE2-A7ED-9CEF6200DA87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1CB-4DE2-A7ED-9CEF6200DA8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1CB-4DE2-A7ED-9CEF6200DA8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C1CB-4DE2-A7ED-9CEF6200DA8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C1CB-4DE2-A7ED-9CEF6200DA8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112</c:v>
                </c:pt>
                <c:pt idx="2">
                  <c:v>51</c:v>
                </c:pt>
                <c:pt idx="3">
                  <c:v>25</c:v>
                </c:pt>
                <c:pt idx="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1CB-4DE2-A7ED-9CEF6200DA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0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33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Overtime vs Attrition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With Overtime</c:v>
                </c:pt>
                <c:pt idx="1">
                  <c:v>No Overtime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127</c:v>
                </c:pt>
                <c:pt idx="1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77-4971-A089-8E9A346C4C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Attrition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With Overtime</c:v>
                </c:pt>
                <c:pt idx="1">
                  <c:v>No Overtime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109</c:v>
                </c:pt>
                <c:pt idx="1">
                  <c:v>1124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77-4971-A089-8E9A346C4C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Attrition by Job Role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Lab Tech</c:v>
                </c:pt>
                <c:pt idx="1">
                  <c:v>Sales Exec</c:v>
                </c:pt>
                <c:pt idx="2">
                  <c:v>R&amp;D Sci</c:v>
                </c:pt>
                <c:pt idx="3">
                  <c:v>Sales Rep</c:v>
                </c:pt>
                <c:pt idx="4">
                  <c:v>HR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57</c:v>
                </c:pt>
                <c:pt idx="2">
                  <c:v>47</c:v>
                </c:pt>
                <c:pt idx="3">
                  <c:v>33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AF-4CE9-97A0-02433F9D69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1322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14F5A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2286000"/>
            <a:ext cx="2286000" cy="22860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Dashboard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2834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| Power BI | IBM Dataset |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273552"/>
            <a:ext cx="3200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3520440"/>
            <a:ext cx="3327008" cy="502920"/>
          </a:xfrm>
          <a:prstGeom prst="roundRect">
            <a:avLst>
              <a:gd name="adj" fmla="val 18182"/>
            </a:avLst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39" y="3520440"/>
            <a:ext cx="33270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Presented By : Prabhat Shukla|  MBA – Business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4023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The Challenge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3657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276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1572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Why employees leave the company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2140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21214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Which departments have higher attrition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7004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2" y="26700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Which employee groups are at higher risk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1868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4672" y="32186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Impact of overtime &amp; work-life balance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67328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04672" y="37673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Salary and age-related attrition patterns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4754880" y="82296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754880" y="822960"/>
            <a:ext cx="73152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960120"/>
            <a:ext cx="411480" cy="4114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94960" y="914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High Turnover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5394960" y="12344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Directly impacts productivity &amp; team morale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4754880" y="2121408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4754880" y="2121408"/>
            <a:ext cx="73152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258568"/>
            <a:ext cx="411480" cy="4114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94960" y="22128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Rising Costs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5394960" y="253288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Recruitment &amp; training costs skyrocket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4754880" y="3419856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4754880" y="3419856"/>
            <a:ext cx="73152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557016"/>
            <a:ext cx="411480" cy="4114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394960" y="35112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No Insights</a:t>
            </a:r>
            <a:endParaRPr lang="en-US" sz="1400" dirty="0"/>
          </a:p>
        </p:txBody>
      </p:sp>
      <p:sp>
        <p:nvSpPr>
          <p:cNvPr id="31" name="Text 21"/>
          <p:cNvSpPr/>
          <p:nvPr/>
        </p:nvSpPr>
        <p:spPr>
          <a:xfrm>
            <a:off x="5394960" y="383133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HR teams lack data for preventive action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What we aimed to achieve with this HR Analytics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2743200" cy="1463040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002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581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Attrition Rate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Calculate overall employee attrition rate precisely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417320"/>
            <a:ext cx="2743200" cy="1463040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6002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459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7640" y="1581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Department Analysis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83280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Analyze attrition across all departments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72200" y="1417320"/>
            <a:ext cx="2743200" cy="1463040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6002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6459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1581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Overtime Impact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09360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Understand how overtime drives employee exits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20040" y="3108960"/>
            <a:ext cx="2743200" cy="1463040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2918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33756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3273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Work-Life Balance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37947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Study satisfaction &amp; work-life balance effects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46120" y="3108960"/>
            <a:ext cx="2743200" cy="1463040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83280" y="32918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33756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77640" y="3273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Salary &amp; Age Trends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83280" y="37947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Correlate income and age with attrition patterns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72200" y="3108960"/>
            <a:ext cx="2743200" cy="1463040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09360" y="32918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33756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3273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Interactive Dashboard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309360" y="37947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Build a professional BI dashboard in Power BI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B4D8"/>
                </a:solidFill>
              </a:rPr>
              <a:t>DATASET &amp; TOOLS USED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389120" cy="4023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960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Dataset Information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536192"/>
            <a:ext cx="402336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6733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Source: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691640" y="16733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IBM HR Analytics (Kaggle)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0848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Records: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691640" y="20848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1,470 Employees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4963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Type: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691640" y="24963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HR Analytics Dataset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2971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Key Columns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337560"/>
            <a:ext cx="1828800" cy="274320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Age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468880" y="3337560"/>
            <a:ext cx="1828800" cy="274320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688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Department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3685032"/>
            <a:ext cx="1828800" cy="274320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685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JobRole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468880" y="3685032"/>
            <a:ext cx="1828800" cy="274320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468880" y="3685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MonthlyIncome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4032504"/>
            <a:ext cx="1828800" cy="274320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4032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OverTime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468880" y="4032504"/>
            <a:ext cx="1828800" cy="274320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468880" y="4032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WorkLifeBalance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4379976"/>
            <a:ext cx="1828800" cy="274320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4379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JobSatisfaction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468880" y="4379976"/>
            <a:ext cx="1828800" cy="274320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468880" y="4379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YearsAtCompany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57200" y="4727448"/>
            <a:ext cx="1828800" cy="274320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4727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Attrition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468880" y="4727448"/>
            <a:ext cx="1828800" cy="274320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468880" y="4727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Gender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0" y="8046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Tools &amp; Technologies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029200" y="1325880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029200" y="1325880"/>
            <a:ext cx="64008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481328"/>
            <a:ext cx="384048" cy="384048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650992" y="13898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Power BI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5650992" y="1709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Dashboard &amp; Visualization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5029200" y="2240280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5029200" y="2240280"/>
            <a:ext cx="64008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2395728"/>
            <a:ext cx="384048" cy="384048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5650992" y="2304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DAX</a:t>
            </a:r>
            <a:endParaRPr lang="en-US" sz="1300" dirty="0"/>
          </a:p>
        </p:txBody>
      </p:sp>
      <p:sp>
        <p:nvSpPr>
          <p:cNvPr id="45" name="Text 40"/>
          <p:cNvSpPr/>
          <p:nvPr/>
        </p:nvSpPr>
        <p:spPr>
          <a:xfrm>
            <a:off x="5650992" y="2624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Calculated Measures &amp; KPIs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029200" y="3154680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42"/>
          <p:cNvSpPr/>
          <p:nvPr/>
        </p:nvSpPr>
        <p:spPr>
          <a:xfrm>
            <a:off x="5029200" y="3154680"/>
            <a:ext cx="64008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3310128"/>
            <a:ext cx="384048" cy="384048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5650992" y="32186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Data Cleaning</a:t>
            </a:r>
            <a:endParaRPr lang="en-US" sz="1300" dirty="0"/>
          </a:p>
        </p:txBody>
      </p:sp>
      <p:sp>
        <p:nvSpPr>
          <p:cNvPr id="50" name="Text 44"/>
          <p:cNvSpPr/>
          <p:nvPr/>
        </p:nvSpPr>
        <p:spPr>
          <a:xfrm>
            <a:off x="5650992" y="3538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Pre-processing &amp; Validation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5029200" y="4069080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46"/>
          <p:cNvSpPr/>
          <p:nvPr/>
        </p:nvSpPr>
        <p:spPr>
          <a:xfrm>
            <a:off x="5029200" y="4069080"/>
            <a:ext cx="64008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4224528"/>
            <a:ext cx="384048" cy="384048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5650992" y="4133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Business Intel</a:t>
            </a:r>
            <a:endParaRPr lang="en-US" sz="1300" dirty="0"/>
          </a:p>
        </p:txBody>
      </p:sp>
      <p:sp>
        <p:nvSpPr>
          <p:cNvPr id="55" name="Text 48"/>
          <p:cNvSpPr/>
          <p:nvPr/>
        </p:nvSpPr>
        <p:spPr>
          <a:xfrm>
            <a:off x="5650992" y="4453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Analytics &amp; Storytelling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DAX Measures &amp; KPIs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Custom calculations powering the dashboard insights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560320" cy="54864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Employees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63240" y="1280160"/>
            <a:ext cx="566928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2801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COUNT(EmployeeNumber)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2560320" cy="548640"/>
          </a:xfrm>
          <a:prstGeom prst="rect">
            <a:avLst/>
          </a:prstGeom>
          <a:solidFill>
            <a:srgbClr val="F4A261">
              <a:alpha val="8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Employees Left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2011680"/>
            <a:ext cx="566928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0116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CALCULATE(COUNT(EmployeeNumber), Attrition = "Yes")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2560320" cy="548640"/>
          </a:xfrm>
          <a:prstGeom prst="rect">
            <a:avLst/>
          </a:prstGeom>
          <a:solidFill>
            <a:srgbClr val="E63946">
              <a:alpha val="8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43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Attrition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63240" y="2743200"/>
            <a:ext cx="566928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7432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DIVIDE([Employees Left], [Total Employees], 0) * 100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2560320" cy="548640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Age (Leaving)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63240" y="3474720"/>
            <a:ext cx="566928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34747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CALCULATE(AVERAGE(Age), Attrition = "Yes")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2560320" cy="548640"/>
          </a:xfrm>
          <a:prstGeom prst="rect">
            <a:avLst/>
          </a:prstGeom>
          <a:solidFill>
            <a:srgbClr val="2EC4B6">
              <a:alpha val="85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Income (Leaving)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63240" y="4206240"/>
            <a:ext cx="566928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42062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CALCULATE(AVERAGE(MonthlyIncome), Attrition = "Yes")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B4D8"/>
                </a:solidFill>
              </a:rPr>
              <a:t>EXECUTIVE OVERVIEW — PAGE 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5544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1,470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12618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</a:rPr>
              <a:t>Total Employees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777240"/>
            <a:ext cx="1554480" cy="914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822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237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0" y="12618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</a:rPr>
              <a:t>Employees Left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49040" y="777240"/>
            <a:ext cx="15544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822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16.1%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9040" y="12618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</a:rPr>
              <a:t>Attrition Rate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777240"/>
            <a:ext cx="1554480" cy="914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822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33.6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0" y="12618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</a:rPr>
              <a:t>Avg Age Leaving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3760" y="777240"/>
            <a:ext cx="15544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822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$4,787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23760" y="12618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</a:rPr>
              <a:t>Avg Income Leaving</a:t>
            </a:r>
            <a:endParaRPr lang="en-US" sz="9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274320" y="1828800"/>
          <a:ext cx="41148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"/>
          <p:cNvGraphicFramePr/>
          <p:nvPr/>
        </p:nvGraphicFramePr>
        <p:xfrm>
          <a:off x="4663440" y="1828800"/>
          <a:ext cx="42062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Findings — Employee Patterns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Visual insights from the IBM HR Analytics dataset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3840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572000" y="1097280"/>
          <a:ext cx="42976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B4D8"/>
                </a:solidFill>
              </a:rPr>
              <a:t>DEEP ANALYSIS — PAGE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2024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04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4D8"/>
                </a:solidFill>
              </a:rPr>
              <a:t>2.73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4320" y="11612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Avg Job Satisfaction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777240"/>
            <a:ext cx="192024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804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4D8"/>
                </a:solidFill>
              </a:rPr>
              <a:t>2.76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423160" y="11612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Avg Work-Life Balance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192024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04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4D8"/>
                </a:solidFill>
              </a:rPr>
              <a:t>15.2%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11612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Avg Salary Hike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20840" y="777240"/>
            <a:ext cx="192024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804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4D8"/>
                </a:solidFill>
              </a:rPr>
              <a:t>30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720840" y="11612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Employees Left w/ OT</a:t>
            </a:r>
            <a:endParaRPr lang="en-US" sz="9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274320" y="1737360"/>
          <a:ext cx="41148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"/>
          <p:cNvGraphicFramePr/>
          <p:nvPr/>
        </p:nvGraphicFramePr>
        <p:xfrm>
          <a:off x="4663440" y="1737360"/>
          <a:ext cx="4206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Business Insights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0" y="777240"/>
            <a:ext cx="2743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743200" cy="1627632"/>
          </a:xfrm>
          <a:prstGeom prst="rect">
            <a:avLst/>
          </a:prstGeom>
          <a:solidFill>
            <a:srgbClr val="112233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143000"/>
            <a:ext cx="502920" cy="502920"/>
          </a:xfrm>
          <a:prstGeom prst="ellipse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1795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338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Overtime is a Key Driver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71907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Employees doing overtime show significantly higher attrition rates than those without.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27832" y="1005840"/>
            <a:ext cx="2743200" cy="1627632"/>
          </a:xfrm>
          <a:prstGeom prst="rect">
            <a:avLst/>
          </a:prstGeom>
          <a:solidFill>
            <a:srgbClr val="112233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143000"/>
            <a:ext cx="502920" cy="502920"/>
          </a:xfrm>
          <a:prstGeom prst="ellipse">
            <a:avLst/>
          </a:prstGeom>
          <a:solidFill>
            <a:srgbClr val="E63946">
              <a:alpha val="80000"/>
            </a:srgbClr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117957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59352" y="11338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</a:rPr>
              <a:t>High-Risk Job Roles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64992" y="171907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Laboratory Technicians and Sales Executives have the highest turnover in the organization.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81344" y="1005840"/>
            <a:ext cx="2743200" cy="162763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91072" y="1143000"/>
            <a:ext cx="502920" cy="50292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17957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12864" y="11338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Work-Life Balance Matters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318504" y="171907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Employees rating work-life balance as 'Bad' are far more likely to resign.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2880360"/>
            <a:ext cx="2743200" cy="1627632"/>
          </a:xfrm>
          <a:prstGeom prst="rect">
            <a:avLst/>
          </a:prstGeom>
          <a:solidFill>
            <a:srgbClr val="112233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84048" y="3017520"/>
            <a:ext cx="502920" cy="502920"/>
          </a:xfrm>
          <a:prstGeom prst="ellipse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05409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30083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R&amp;D &amp; Sales Most Impacted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11480" y="359359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Research &amp; Development and Sales departments experience the highest employee turnover.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27832" y="2880360"/>
            <a:ext cx="2743200" cy="1627632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37560" y="3017520"/>
            <a:ext cx="502920" cy="502920"/>
          </a:xfrm>
          <a:prstGeom prst="ellipse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2424" y="305409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59352" y="30083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Early Tenure Employees Exit More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364992" y="359359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New joiners (&lt; 2 years) have a much higher probability of leaving the company.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81344" y="2880360"/>
            <a:ext cx="2743200" cy="162763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91072" y="3017520"/>
            <a:ext cx="502920" cy="50292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3054096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12864" y="30083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Age Group 26–35 Most Affected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318504" y="359359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Mid-career employees aged 26–35 represent the highest attrition count of 112.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B4D8"/>
                </a:solidFill>
              </a:rPr>
              <a:t>DASHBOARD FEATURES &amp; 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686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868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Executive Overview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Page 1 — High-level summary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664208"/>
            <a:ext cx="374904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288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18288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KPI Cards (5 metrics)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3172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2331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Attrition by Department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34640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2960" y="2834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Employees Left by Gender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37560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2960" y="3337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Employees Left by Age</a:t>
            </a:r>
            <a:endParaRPr lang="en-US" sz="11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2296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Years at Company Trend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4846320" y="777240"/>
            <a:ext cx="4114800" cy="4114800"/>
          </a:xfrm>
          <a:prstGeom prst="rect">
            <a:avLst/>
          </a:prstGeom>
          <a:solidFill>
            <a:srgbClr val="014F5A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868680"/>
            <a:ext cx="502920" cy="5029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669280" y="868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Deep Analysis</a:t>
            </a:r>
            <a:endParaRPr lang="en-US" sz="1500" dirty="0"/>
          </a:p>
        </p:txBody>
      </p:sp>
      <p:sp>
        <p:nvSpPr>
          <p:cNvPr id="22" name="Text 13"/>
          <p:cNvSpPr/>
          <p:nvPr/>
        </p:nvSpPr>
        <p:spPr>
          <a:xfrm>
            <a:off x="502920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Page 2 — Root cause investigation</a:t>
            </a:r>
            <a:endParaRPr lang="en-US" sz="1000" dirty="0"/>
          </a:p>
        </p:txBody>
      </p:sp>
      <p:sp>
        <p:nvSpPr>
          <p:cNvPr id="23" name="Shape 14"/>
          <p:cNvSpPr/>
          <p:nvPr/>
        </p:nvSpPr>
        <p:spPr>
          <a:xfrm>
            <a:off x="5029200" y="1664208"/>
            <a:ext cx="374904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828800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94960" y="18288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KPI Cards (4 metrics)</a:t>
            </a:r>
            <a:endParaRPr lang="en-US" sz="11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331720"/>
            <a:ext cx="256032" cy="25603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394960" y="2331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Overtime vs Attrition Chart</a:t>
            </a:r>
            <a:endParaRPr lang="en-US" sz="11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834640"/>
            <a:ext cx="256032" cy="256032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394960" y="2834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Attrition by Job Role</a:t>
            </a:r>
            <a:endParaRPr lang="en-US" sz="11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37560"/>
            <a:ext cx="256032" cy="256032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394960" y="3337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Work-Life Balance Analysis</a:t>
            </a:r>
            <a:endParaRPr lang="en-US" sz="11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840480"/>
            <a:ext cx="256032" cy="256032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39496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Dept vs Role Heatmap</a:t>
            </a:r>
            <a:endParaRPr lang="en-US" sz="1100" dirty="0"/>
          </a:p>
        </p:txBody>
      </p:sp>
      <p:sp>
        <p:nvSpPr>
          <p:cNvPr id="34" name="Shape 20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21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✦ Dynamic KPIs   ✦ Interactive Slicers   ✦ Multi-Page Navigation   ✦ Conditional Formatting   ✦ Heatmap   ✦ Real-Time Filtering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Learnings &amp; Future Roadmap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023360" cy="3931920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058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005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Learning Outcomes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536192"/>
            <a:ext cx="3657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19072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17190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Power BI Dashboard Development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21992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" y="22219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HR Analytics &amp; Business Concepts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24912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2960" y="27249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Advanced DAX Calculations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27832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2960" y="32278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Interactive &amp; Dynamic Reporting</a:t>
            </a:r>
            <a:endParaRPr lang="en-US" sz="1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30752"/>
            <a:ext cx="256032" cy="25603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22960" y="37307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Data Visualization Best Practices</a:t>
            </a:r>
            <a:endParaRPr lang="en-US" sz="11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33672"/>
            <a:ext cx="256032" cy="256032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22960" y="42336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Data Storytelling Techniques</a:t>
            </a:r>
            <a:endParaRPr lang="en-US" sz="1100" dirty="0"/>
          </a:p>
        </p:txBody>
      </p:sp>
      <p:sp>
        <p:nvSpPr>
          <p:cNvPr id="19" name="Shape 10"/>
          <p:cNvSpPr/>
          <p:nvPr/>
        </p:nvSpPr>
        <p:spPr>
          <a:xfrm>
            <a:off x="4846320" y="914400"/>
            <a:ext cx="4023360" cy="3931920"/>
          </a:xfrm>
          <a:prstGeom prst="rect">
            <a:avLst/>
          </a:prstGeom>
          <a:solidFill>
            <a:srgbClr val="112233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162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005840"/>
            <a:ext cx="457200" cy="4572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532120" y="1005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</a:rPr>
              <a:t>Future Enhancements</a:t>
            </a:r>
            <a:endParaRPr lang="en-US" sz="1500" dirty="0"/>
          </a:p>
        </p:txBody>
      </p:sp>
      <p:sp>
        <p:nvSpPr>
          <p:cNvPr id="22" name="Shape 12"/>
          <p:cNvSpPr/>
          <p:nvPr/>
        </p:nvSpPr>
        <p:spPr>
          <a:xfrm>
            <a:off x="5029200" y="1536192"/>
            <a:ext cx="3657600" cy="274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Shape 13"/>
          <p:cNvSpPr/>
          <p:nvPr/>
        </p:nvSpPr>
        <p:spPr>
          <a:xfrm>
            <a:off x="5029200" y="1719072"/>
            <a:ext cx="411480" cy="347472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14"/>
          <p:cNvSpPr/>
          <p:nvPr/>
        </p:nvSpPr>
        <p:spPr>
          <a:xfrm>
            <a:off x="5029200" y="17190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</a:rPr>
              <a:t>01</a:t>
            </a:r>
            <a:endParaRPr lang="en-US" sz="1100" dirty="0"/>
          </a:p>
        </p:txBody>
      </p:sp>
      <p:sp>
        <p:nvSpPr>
          <p:cNvPr id="25" name="Text 15"/>
          <p:cNvSpPr/>
          <p:nvPr/>
        </p:nvSpPr>
        <p:spPr>
          <a:xfrm>
            <a:off x="5532120" y="17190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Predictive Attrition with Machine Learning</a:t>
            </a:r>
            <a:endParaRPr lang="en-US" sz="1100" dirty="0"/>
          </a:p>
        </p:txBody>
      </p:sp>
      <p:sp>
        <p:nvSpPr>
          <p:cNvPr id="26" name="Shape 16"/>
          <p:cNvSpPr/>
          <p:nvPr/>
        </p:nvSpPr>
        <p:spPr>
          <a:xfrm>
            <a:off x="5029200" y="2322576"/>
            <a:ext cx="411480" cy="347472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17"/>
          <p:cNvSpPr/>
          <p:nvPr/>
        </p:nvSpPr>
        <p:spPr>
          <a:xfrm>
            <a:off x="5029200" y="232257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</a:rPr>
              <a:t>02</a:t>
            </a:r>
            <a:endParaRPr lang="en-US" sz="1100" dirty="0"/>
          </a:p>
        </p:txBody>
      </p:sp>
      <p:sp>
        <p:nvSpPr>
          <p:cNvPr id="28" name="Text 18"/>
          <p:cNvSpPr/>
          <p:nvPr/>
        </p:nvSpPr>
        <p:spPr>
          <a:xfrm>
            <a:off x="5532120" y="23225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Employee Retention Forecasting Model</a:t>
            </a:r>
            <a:endParaRPr lang="en-US" sz="1100" dirty="0"/>
          </a:p>
        </p:txBody>
      </p:sp>
      <p:sp>
        <p:nvSpPr>
          <p:cNvPr id="29" name="Shape 19"/>
          <p:cNvSpPr/>
          <p:nvPr/>
        </p:nvSpPr>
        <p:spPr>
          <a:xfrm>
            <a:off x="5029200" y="2926080"/>
            <a:ext cx="411480" cy="347472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5029200" y="29260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</a:rPr>
              <a:t>03</a:t>
            </a:r>
            <a:endParaRPr lang="en-US" sz="1100" dirty="0"/>
          </a:p>
        </p:txBody>
      </p:sp>
      <p:sp>
        <p:nvSpPr>
          <p:cNvPr id="31" name="Text 21"/>
          <p:cNvSpPr/>
          <p:nvPr/>
        </p:nvSpPr>
        <p:spPr>
          <a:xfrm>
            <a:off x="5532120" y="2926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Real-Time HR Data Integration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5029200" y="3529584"/>
            <a:ext cx="411480" cy="347472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5029200" y="352958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</a:rPr>
              <a:t>04</a:t>
            </a:r>
            <a:endParaRPr lang="en-US" sz="1100" dirty="0"/>
          </a:p>
        </p:txBody>
      </p:sp>
      <p:sp>
        <p:nvSpPr>
          <p:cNvPr id="34" name="Text 24"/>
          <p:cNvSpPr/>
          <p:nvPr/>
        </p:nvSpPr>
        <p:spPr>
          <a:xfrm>
            <a:off x="5532120" y="35295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Advanced Drill-Through Analysis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5029200" y="4133088"/>
            <a:ext cx="411480" cy="347472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5029200" y="413308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</a:rPr>
              <a:t>05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5532120" y="41330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Automated Reporting &amp; Alerts System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14F5A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548640"/>
            <a:ext cx="1920240" cy="1920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Thank You!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914400" y="33649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</a:rPr>
              <a:t>Employee Attrition Insights Dashboard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286000" y="3840480"/>
            <a:ext cx="4572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977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Built with Power BI &amp; DAX  |  IBM HR Analytics Dataset (Kaggle)  |  Coding Samurai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643</Words>
  <Application>Microsoft Office PowerPoint</Application>
  <PresentationFormat>On-screen Show (16:9)</PresentationFormat>
  <Paragraphs>162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Attrition Insights Dashboard</dc:title>
  <dc:subject>PptxGenJS Presentation</dc:subject>
  <dc:creator>PptxGenJS</dc:creator>
  <cp:lastModifiedBy>Abhay Shukla</cp:lastModifiedBy>
  <cp:revision>2</cp:revision>
  <dcterms:created xsi:type="dcterms:W3CDTF">2026-05-22T06:36:17Z</dcterms:created>
  <dcterms:modified xsi:type="dcterms:W3CDTF">2026-05-22T06:48:13Z</dcterms:modified>
</cp:coreProperties>
</file>